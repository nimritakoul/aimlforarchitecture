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65" d="100"/>
          <a:sy n="65" d="100"/>
        </p:scale>
        <p:origin x="8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DDC5F-8C35-8726-3BE6-BDF5CE1C27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28FFAC-B6EA-A498-BE0C-1129E23C2D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16BD9-F6E0-D50C-FA6C-327FDDCC3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4A240-3A11-48C1-B222-D29E1CDFFF37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7E8C3-68F7-C566-47E7-D7AA29FC3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8FB56-960B-4160-30FB-1EA5D988D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57EAC-AB20-41EB-BBE8-6414E6212B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239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AD315-A7F2-F2DD-C557-37CDCB92D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0C607-8728-4A92-3719-755F02540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5BCCE-323A-2F92-0E6A-4DB09F889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4A240-3A11-48C1-B222-D29E1CDFFF37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11426-E474-C178-8C79-E5BF0B1B3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8BA6E-72E9-00B3-5937-6E6032CA8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57EAC-AB20-41EB-BBE8-6414E6212B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2616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4401E4-1AC0-4942-17AA-6C6D3CB9C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68FACE-6781-9D9B-CB6B-C4AFA82CE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35A49-F49C-3FBC-DFCD-66DC9986DB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24A240-3A11-48C1-B222-D29E1CDFFF37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82F01-4B5D-A997-78F8-040B9FFDA0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0253C-84B0-755C-36B2-3D2CD2653F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757EAC-AB20-41EB-BBE8-6414E6212B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6960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1CF3B-17EA-BFD3-0045-17DFB63F3E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AI and ML for Architecture</a:t>
            </a:r>
            <a:br>
              <a:rPr lang="en-IN" dirty="0"/>
            </a:br>
            <a:r>
              <a:rPr lang="en-IN" dirty="0"/>
              <a:t>(M25RD204)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3FD8F8-5B46-F647-1AB4-F8A26E5267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Dr. Nimrita Koul</a:t>
            </a:r>
          </a:p>
          <a:p>
            <a:r>
              <a:rPr lang="en-IN" dirty="0"/>
              <a:t>Associate Professor, School of CSE, REVA University</a:t>
            </a:r>
          </a:p>
        </p:txBody>
      </p:sp>
    </p:spTree>
    <p:extLst>
      <p:ext uri="{BB962C8B-B14F-4D97-AF65-F5344CB8AC3E}">
        <p14:creationId xmlns:p14="http://schemas.microsoft.com/office/powerpoint/2010/main" val="386897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1D650-17E0-D861-69CA-ED54D436C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Course Contents  &amp; Schedule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2DF7E-E1F8-46A9-5EC9-F4C7156F75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Python Programming + Relevant Libraries </a:t>
            </a:r>
            <a:r>
              <a:rPr lang="en-IN"/>
              <a:t>: 2.7.2026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Introduction to AI, Data Science and ML – Data Collection and Preprocessing : 2.7.2026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Supervised Learning Algorithms – Linear Regression for Space Planning : 2.7.2026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Unsupervised Learning – K - Means for Site Analysis : 2.7.2026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Neural Networks, Deep  Learning : 6.7.2026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Computer Vision – CNNS, Image Classification, Stable Diffusion, Mid Journey : 6.7.2026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Generative Design with GANs  : 7.7.2026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Generative AI – LLMs, VLMs, Multimodal AI Models : 7.7.2026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Generative AI Tools for Architecture : 7.7.2026</a:t>
            </a:r>
          </a:p>
        </p:txBody>
      </p:sp>
    </p:spTree>
    <p:extLst>
      <p:ext uri="{BB962C8B-B14F-4D97-AF65-F5344CB8AC3E}">
        <p14:creationId xmlns:p14="http://schemas.microsoft.com/office/powerpoint/2010/main" val="3686588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1B82B-E62D-0CA8-47C4-919349C34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E36D2-7255-F6D0-CCC0-BFA585E16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Course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BD74C-C027-1FCB-B79E-5A9A6A21A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514350" indent="-514350">
              <a:buFont typeface="+mj-lt"/>
              <a:buAutoNum type="arabicPeriod" startAt="10"/>
            </a:pPr>
            <a:r>
              <a:rPr lang="en-IN" dirty="0"/>
              <a:t>Natural Language Processing for Design Briefs – Text Analysis and Brief Processing : 8.7.2026</a:t>
            </a:r>
          </a:p>
          <a:p>
            <a:pPr marL="514350" indent="-514350">
              <a:buFont typeface="+mj-lt"/>
              <a:buAutoNum type="arabicPeriod" startAt="10"/>
            </a:pPr>
            <a:r>
              <a:rPr lang="en-IN" dirty="0"/>
              <a:t>Reinforcement Learning for Space Utilization : 8.7.2026</a:t>
            </a:r>
          </a:p>
          <a:p>
            <a:pPr marL="514350" indent="-514350">
              <a:buFont typeface="+mj-lt"/>
              <a:buAutoNum type="arabicPeriod" startAt="10"/>
            </a:pPr>
            <a:r>
              <a:rPr lang="en-IN" dirty="0"/>
              <a:t>Optimization Algorithms – Genetic Algorithm for Layout Planning : 9.7.2026</a:t>
            </a:r>
          </a:p>
          <a:p>
            <a:pPr marL="514350" indent="-514350">
              <a:buFont typeface="+mj-lt"/>
              <a:buAutoNum type="arabicPeriod" startAt="10"/>
            </a:pPr>
            <a:r>
              <a:rPr lang="en-IN" dirty="0"/>
              <a:t>Building Performance Prediction – Energy Consumption ML Models : 13.7.2026</a:t>
            </a:r>
          </a:p>
          <a:p>
            <a:pPr marL="514350" indent="-514350">
              <a:buFont typeface="+mj-lt"/>
              <a:buAutoNum type="arabicPeriod" startAt="10"/>
            </a:pPr>
            <a:r>
              <a:rPr lang="en-IN" dirty="0"/>
              <a:t>Smart Building Systems – IoT Integration with ML Planning : 13.7.2026</a:t>
            </a:r>
          </a:p>
          <a:p>
            <a:pPr marL="514350" indent="-514350">
              <a:buFont typeface="+mj-lt"/>
              <a:buAutoNum type="arabicPeriod" startAt="10"/>
            </a:pPr>
            <a:r>
              <a:rPr lang="en-IN" dirty="0"/>
              <a:t>Advanced Applications -  Custom AI Tool Development : 14.7.2026</a:t>
            </a:r>
          </a:p>
          <a:p>
            <a:pPr marL="514350" indent="-514350">
              <a:buFont typeface="+mj-lt"/>
              <a:buAutoNum type="arabicPeriod" startAt="10"/>
            </a:pPr>
            <a:r>
              <a:rPr lang="en-IN" dirty="0"/>
              <a:t>AI Ethics in Architecture – Bias Detection and Mitigation : 14.7.2026</a:t>
            </a:r>
          </a:p>
          <a:p>
            <a:pPr marL="514350" indent="-514350">
              <a:buFont typeface="+mj-lt"/>
              <a:buAutoNum type="arabicPeriod" startAt="10"/>
            </a:pPr>
            <a:r>
              <a:rPr lang="en-IN" dirty="0"/>
              <a:t>Industry Case Studies – Portfolio Compilation: 14.7.2026</a:t>
            </a:r>
          </a:p>
          <a:p>
            <a:pPr marL="514350" indent="-514350">
              <a:buFont typeface="+mj-lt"/>
              <a:buAutoNum type="arabicPeriod" startAt="10"/>
            </a:pPr>
            <a:r>
              <a:rPr lang="en-IN" dirty="0"/>
              <a:t>Project Presentations – 15.7.2026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0782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2B1EE-49EF-74B8-12A1-0ADB43D41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Role of Generative AI in Computational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BF1EC-A72B-19F7-DC84-99509F325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Paradigm shift from strictly </a:t>
            </a:r>
            <a:r>
              <a:rPr lang="en-IN" b="1" dirty="0"/>
              <a:t>parametric and rule-based</a:t>
            </a:r>
            <a:r>
              <a:rPr lang="en-IN" dirty="0"/>
              <a:t> (using code to calculate exact coordinates, vectors, and panels), to  </a:t>
            </a:r>
            <a:r>
              <a:rPr lang="en-IN" b="1" dirty="0"/>
              <a:t>probabilistic, vision-based design. 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1. Hyper-Accelerated Concept Ideation (The Front-End): Mood board on steroids. </a:t>
            </a:r>
          </a:p>
          <a:p>
            <a:pPr marL="0" indent="0">
              <a:buNone/>
            </a:pPr>
            <a:r>
              <a:rPr lang="en-IN" sz="2200" dirty="0"/>
              <a:t>Type</a:t>
            </a:r>
            <a:r>
              <a:rPr lang="en-IN" sz="2200" b="1" dirty="0"/>
              <a:t> </a:t>
            </a:r>
            <a:r>
              <a:rPr lang="en-IN" sz="2200" dirty="0"/>
              <a:t>a prompt specifying materials, atmospheric conditions, and architectural typologies (e.g., </a:t>
            </a:r>
            <a:r>
              <a:rPr lang="en-IN" sz="2200" i="1" dirty="0"/>
              <a:t>"A biophilic research center, rammed earth and curved glass, foggy morning, architectural photography"</a:t>
            </a:r>
            <a:r>
              <a:rPr lang="en-IN" sz="2200" dirty="0"/>
              <a:t>), and receive high-fidelity conceptual imagery in seconds. You can test hundreds of aesthetic directions before writing a single line of code or clicking a mouse in Rhino.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4829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5AFCA-5422-9DE7-1727-EF897D9A2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Role of Generative AI in Computational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7114C-B9A7-EF89-B8E4-7C7B59BA8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2. Image-to-Image (Img2Img) and Massing Transmutation : </a:t>
            </a:r>
            <a:r>
              <a:rPr lang="en-IN" dirty="0"/>
              <a:t>You can use Image to Image inputs to take a crude, blocky 3D massing model from Rhino and use AI to generate the architectural detailing, materiality, and lighting over that exact geometry.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[Crude Rhino 3D Blocks] ──&gt; [AI Processing + Prompt] ──&gt; [Photo-Real Architectural Rendering]</a:t>
            </a:r>
          </a:p>
          <a:p>
            <a:endParaRPr lang="en-IN" dirty="0"/>
          </a:p>
          <a:p>
            <a:r>
              <a:rPr lang="en-IN" dirty="0"/>
              <a:t>Automating the tedious task of texture mapping and scene rendering during early client presentations.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5660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ADBD6-028D-9EA9-E93C-065D58622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Role of Generative AI in Computational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5E16E-8EF7-AE70-A997-EDDC0A4AB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3. Dematerializing the "Technical Wall"</a:t>
            </a:r>
          </a:p>
          <a:p>
            <a:r>
              <a:rPr lang="en-IN" dirty="0"/>
              <a:t>You don’t need to be an expert in understanding vector math and syntax to see a complex form. Generative AI allows for </a:t>
            </a:r>
            <a:r>
              <a:rPr lang="en-IN" b="1" dirty="0"/>
              <a:t>semantic design</a:t>
            </a:r>
            <a:r>
              <a:rPr lang="en-IN" dirty="0"/>
              <a:t>—using natural language to describe spatial complexity. </a:t>
            </a:r>
          </a:p>
          <a:p>
            <a:endParaRPr lang="en-IN" dirty="0"/>
          </a:p>
          <a:p>
            <a:r>
              <a:rPr lang="en-IN" dirty="0"/>
              <a:t>This democratizes the exploration of highly intricate, non-linear geometries (like Baroque detailing or complex organic lattices) for students who haven't yet mastered complex NURBS modelling in Rhino.</a:t>
            </a:r>
          </a:p>
        </p:txBody>
      </p:sp>
    </p:spTree>
    <p:extLst>
      <p:ext uri="{BB962C8B-B14F-4D97-AF65-F5344CB8AC3E}">
        <p14:creationId xmlns:p14="http://schemas.microsoft.com/office/powerpoint/2010/main" val="2865220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B3076-8535-82FF-F628-4C294D374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Role of Generative AI in Computational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77097-D938-0B9D-F62A-1FD1D29D3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4.  Semantic vs. Explicit Geometry: Generative AI generates pixels, not data.</a:t>
            </a:r>
          </a:p>
          <a:p>
            <a:endParaRPr lang="en-IN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B98517B-B389-2E50-C6A4-2B613AE8E1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701392"/>
              </p:ext>
            </p:extLst>
          </p:nvPr>
        </p:nvGraphicFramePr>
        <p:xfrm>
          <a:off x="838200" y="2956401"/>
          <a:ext cx="10515600" cy="25298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05013">
                  <a:extLst>
                    <a:ext uri="{9D8B030D-6E8A-4147-A177-3AD203B41FA5}">
                      <a16:colId xmlns:a16="http://schemas.microsoft.com/office/drawing/2014/main" val="1383909266"/>
                    </a:ext>
                  </a:extLst>
                </a:gridCol>
                <a:gridCol w="4414837">
                  <a:extLst>
                    <a:ext uri="{9D8B030D-6E8A-4147-A177-3AD203B41FA5}">
                      <a16:colId xmlns:a16="http://schemas.microsoft.com/office/drawing/2014/main" val="3224807872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37763662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</a:rPr>
                        <a:t>Attribute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</a:rPr>
                        <a:t>Generative AI (e.g., Midjourney)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</a:rPr>
                        <a:t>Computational Design (e.g., Rhino/Grasshopper)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8113041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</a:rPr>
                        <a:t>Output Type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</a:rPr>
                        <a:t>2D Pixel Grid (Images)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</a:rPr>
                        <a:t>3D Mathematical Data (NURBS, Coordinates)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231433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</a:rPr>
                        <a:t>Precision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</a:rPr>
                        <a:t>Probabilistic (Approximated, "Looks right")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</a:rPr>
                        <a:t>Deterministic (Exact, "Is right")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741897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</a:rPr>
                        <a:t>Downstream Use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</a:rPr>
                        <a:t>Client Inspiration, Conceptual Ideation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</a:rPr>
                        <a:t>Fabrication, CNC Milling, Structural Analysis, BIM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50372403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0373089-3EA9-0A73-9EA0-B37609F9CD3B}"/>
              </a:ext>
            </a:extLst>
          </p:cNvPr>
          <p:cNvSpPr txBox="1"/>
          <p:nvPr/>
        </p:nvSpPr>
        <p:spPr>
          <a:xfrm>
            <a:off x="975123" y="5715298"/>
            <a:ext cx="100072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Midjourney can dream up a breathtaking, highly complex structural column, but it cannot tell you how thick the steel must be, it cannot export a 3D file to a robotic arm, and it cannot calculate the surface area for cost estimation.</a:t>
            </a:r>
          </a:p>
        </p:txBody>
      </p:sp>
    </p:spTree>
    <p:extLst>
      <p:ext uri="{BB962C8B-B14F-4D97-AF65-F5344CB8AC3E}">
        <p14:creationId xmlns:p14="http://schemas.microsoft.com/office/powerpoint/2010/main" val="3044487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512B7-5D27-198B-E6BC-272CBEE6D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Using both Gen AI and Conventional Design Software in a modern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24B97-38E1-36CC-8230-CAF7E3380D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Ideation:</a:t>
            </a:r>
            <a:r>
              <a:rPr lang="en-IN" dirty="0"/>
              <a:t> Use </a:t>
            </a:r>
            <a:r>
              <a:rPr lang="en-IN" b="1" dirty="0"/>
              <a:t>Midjourney</a:t>
            </a:r>
            <a:r>
              <a:rPr lang="en-IN" dirty="0"/>
              <a:t> to rapidly discover a unique aesthetic language, material palette, or formal silhouette.</a:t>
            </a:r>
          </a:p>
          <a:p>
            <a:r>
              <a:rPr lang="en-IN" b="1" dirty="0"/>
              <a:t>Translation:</a:t>
            </a:r>
            <a:r>
              <a:rPr lang="en-IN" dirty="0"/>
              <a:t> Take that AI-generated inspiration image into </a:t>
            </a:r>
            <a:r>
              <a:rPr lang="en-IN" b="1" dirty="0"/>
              <a:t>Rhino/Grasshopper</a:t>
            </a:r>
            <a:r>
              <a:rPr lang="en-IN" dirty="0"/>
              <a:t>, using Python or visual scripting to decode the underlying geometric logic into actual 3D points and parametric vectors.</a:t>
            </a:r>
          </a:p>
          <a:p>
            <a:r>
              <a:rPr lang="en-IN" b="1" dirty="0"/>
              <a:t>Execution:</a:t>
            </a:r>
            <a:r>
              <a:rPr lang="en-IN" dirty="0"/>
              <a:t> Optimize that 3D model for structural engineering and digital fabrication.</a:t>
            </a:r>
          </a:p>
        </p:txBody>
      </p:sp>
    </p:spTree>
    <p:extLst>
      <p:ext uri="{BB962C8B-B14F-4D97-AF65-F5344CB8AC3E}">
        <p14:creationId xmlns:p14="http://schemas.microsoft.com/office/powerpoint/2010/main" val="1597903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6EFB7-6ED5-5D99-D2DA-AAD254D31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 is a Tool, Not </a:t>
            </a:r>
            <a:r>
              <a:rPr lang="en-GB"/>
              <a:t>a Replacement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CE7AA-C475-B42A-0FEE-3EFB69F82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Gen AI does not replace architects and designers, it acts as a powerful front-end catalyst, while engines like Rhino 8 remain the mandatory backbone for turning those digital dreams into buildable reality.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587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740</Words>
  <Application>Microsoft Office PowerPoint</Application>
  <PresentationFormat>Widescreen</PresentationFormat>
  <Paragraphs>60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Google Sans Text</vt:lpstr>
      <vt:lpstr>Office Theme</vt:lpstr>
      <vt:lpstr>AI and ML for Architecture (M25RD204)</vt:lpstr>
      <vt:lpstr>Course Contents  &amp; Schedule</vt:lpstr>
      <vt:lpstr>Course Contents</vt:lpstr>
      <vt:lpstr>Role of Generative AI in Computational Design</vt:lpstr>
      <vt:lpstr>Role of Generative AI in Computational Design</vt:lpstr>
      <vt:lpstr>Role of Generative AI in Computational Design</vt:lpstr>
      <vt:lpstr>Role of Generative AI in Computational Design</vt:lpstr>
      <vt:lpstr>Using both Gen AI and Conventional Design Software in a modern Pipeline</vt:lpstr>
      <vt:lpstr>AI is a Tool, Not a Replacement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Dr.Nimrita Koul</dc:creator>
  <cp:lastModifiedBy>Dr.Nimrita Koul</cp:lastModifiedBy>
  <cp:revision>14</cp:revision>
  <dcterms:created xsi:type="dcterms:W3CDTF">2026-06-30T06:21:17Z</dcterms:created>
  <dcterms:modified xsi:type="dcterms:W3CDTF">2026-07-02T03:36:42Z</dcterms:modified>
</cp:coreProperties>
</file>